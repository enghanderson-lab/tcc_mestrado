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Notas</c:v>
                </c:pt>
              </c:strCache>
            </c:strRef>
          </c:tx>
          <c:spPr>
            <a:solidFill>
              <a:srgbClr val="1E5A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Inovação</c:v>
                  </c:pt>
                  <c:pt idx="1">
                    <c:v>Arquitetura</c:v>
                  </c:pt>
                  <c:pt idx="2">
                    <c:v>Escalabil.</c:v>
                  </c:pt>
                  <c:pt idx="3">
                    <c:v>UX</c:v>
                  </c:pt>
                  <c:pt idx="4">
                    <c:v>Facil. uso</c:v>
                  </c:pt>
                  <c:pt idx="5">
                    <c:v>Intelig.</c:v>
                  </c:pt>
                  <c:pt idx="6">
                    <c:v>Comercial</c:v>
                  </c:pt>
                  <c:pt idx="7">
                    <c:v>Científico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</c:v>
                </c:pt>
                <c:pt idx="1">
                  <c:v>7</c:v>
                </c:pt>
                <c:pt idx="2">
                  <c:v>5</c:v>
                </c:pt>
                <c:pt idx="3">
                  <c:v>2</c:v>
                </c:pt>
                <c:pt idx="4">
                  <c:v>3</c:v>
                </c:pt>
                <c:pt idx="5">
                  <c:v>8</c:v>
                </c:pt>
                <c:pt idx="6">
                  <c:v>6</c:v>
                </c:pt>
                <c:pt idx="7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F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00A65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VIDERE 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Estratégica Comparativa e Proposta de Plataforma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de Mestrado — Busca Semântica de Vídeo por IA  vs.  Intelbras IAX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técnico · Pesquisa de mercado · Arquitetura de produto · Protótipo executivo · Roadmap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Lucas Handerson  |  Julho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desta análise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289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74520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2631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Intelbras IAX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Funcionalidades, IA e arquitetura do produto comercial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0420" y="1691640"/>
            <a:ext cx="26289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3300" y="1874520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43300" y="2423160"/>
            <a:ext cx="22631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TCC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43300" y="306324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modelos, pipeline e inconsistências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26289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874520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5080" y="2423160"/>
            <a:ext cx="22631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06324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vs IAX, notas 0-10 e potencial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83980" y="1691640"/>
            <a:ext cx="26289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66860" y="1874520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66860" y="2423160"/>
            <a:ext cx="22631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66860" y="306324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 e tendências 2026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26289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251960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05-06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" y="4800600"/>
            <a:ext cx="22631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Videre AI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544068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 e arquitetura proposta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0420" y="4069080"/>
            <a:ext cx="26289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43300" y="4251960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543300" y="4800600"/>
            <a:ext cx="22631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43300" y="544068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executivo (Lovable) e 16 telas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4069080"/>
            <a:ext cx="26289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55080" y="4251960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08-09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355080" y="4800600"/>
            <a:ext cx="22631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e Plano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55080" y="544068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fases e plano de implementação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868680" y="3429000"/>
            <a:ext cx="128016" cy="128016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3246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da Solução Intelbras IAX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88720" y="39776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integral do Guia de Uso de IA — funcionalidades, arquitetura, limitações e diferenciais do concorrente direto.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INTELBRAS IAX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IAX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IAX é uma camada de IA multimodal de grande escala que roda </a:t>
            </a:r>
            <a:pPr indent="0" marL="0">
              <a:buNone/>
            </a:pPr>
            <a:r>
              <a:rPr lang="en-US" sz="15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centralizada nos gravadores (NVR/servidor)</a:t>
            </a:r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complementando as IAs tradicionais já existentes na câmera/NVR (InSearch, facial, LPR, EPI etc.).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6080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recente (2026) — linha de hardware dedicada "IAX FT"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100% edge/local — sem dependência de nuvem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Consome snapshots gerados por outras IAs (principalmente o InSearch) como fonte de dados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direta ao Hikvision AcuSeek (lançado em 2025) — mesma proposta de valor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52360" y="160020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0B2D5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compatíveis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26680" y="2286000"/>
            <a:ext cx="3703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iNVU 7148 / 9164 / 91128 MX IAX FT (servidores)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iNVD 9016 PE / 9032 / 9032 PE / 9064 IAX FT (NVRs)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exclusiva via projeto registrado (B2B)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móvel iSIC Lite para acesso remoto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INTELBRAS IAX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funcionalidades centrais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IA por Texto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800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digita descrição em linguagem natural (ex.: "pessoa de camisa branca"). Sistema varre imagens indexadas e retorna resultados ranqueados por similaridade (score 0-100%, limiar ajustável).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965960"/>
            <a:ext cx="502920" cy="502920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IA por Texto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2651760"/>
            <a:ext cx="4800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uma busca em regra permanente: dispara alarme sempre que uma cena corresponder ao prompt. Suporta "Exclusão de Prompt" (negativo) para reduzir falsos positivos.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0424160" cy="1371600"/>
          </a:xfrm>
          <a:prstGeom prst="roundRect">
            <a:avLst>
              <a:gd name="adj" fmla="val 5333"/>
            </a:avLst>
          </a:prstGeom>
          <a:solidFill>
            <a:srgbClr val="D7E4F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84632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crítico do próprio manual: o texto promocional promete "raciocínio e entendimento contextual", mas as boas-práticas do guia proíbem termos temporais ("correndo", "parado") e julgamentos subjetivos ("suspeito") — ou seja, na prática é um matcher de similaridade sobre snapshots individuais, não uma IA com compreensão de vídeo contínuo.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INTELBRAS IAX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funcionamento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377440"/>
            <a:ext cx="548640" cy="548640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52044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atende requisitos: ≥100 lux, ≥2MP, ≥15 FPS, ângulo 30-60°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33472" y="32918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210312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11296" y="2377440"/>
            <a:ext cx="548640" cy="548640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12" name="Text 10"/>
          <p:cNvSpPr/>
          <p:nvPr/>
        </p:nvSpPr>
        <p:spPr>
          <a:xfrm>
            <a:off x="351129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80360" y="30632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da base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880360" y="352044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InSearch (ou fotos agendadas) gera snapshots que alimentam o IAX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28032" y="32918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7760" y="210312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05856" y="2377440"/>
            <a:ext cx="548640" cy="548640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18" name="Text 16"/>
          <p:cNvSpPr/>
          <p:nvPr/>
        </p:nvSpPr>
        <p:spPr>
          <a:xfrm>
            <a:off x="570585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74920" y="30632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Habilitação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74920" y="352044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IAX ativado no NVR/servidor; módulo de IA dedicado alocado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22592" y="32918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32320" y="210312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00416" y="2377440"/>
            <a:ext cx="548640" cy="548640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24" name="Text 22"/>
          <p:cNvSpPr/>
          <p:nvPr/>
        </p:nvSpPr>
        <p:spPr>
          <a:xfrm>
            <a:off x="790041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269480" y="30632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/ Alarme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269480" y="352044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em texto → similaridade → resultados ou regra de alarme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17152" y="32918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26880" y="210312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94976" y="2377440"/>
            <a:ext cx="548640" cy="548640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30" name="Text 28"/>
          <p:cNvSpPr/>
          <p:nvPr/>
        </p:nvSpPr>
        <p:spPr>
          <a:xfrm>
            <a:off x="1009497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464040" y="30632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464040" y="352044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de vídeo/imagem via interface web ou app iSIC Lite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440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documentado: ativar o Modo IAX no iNVD desabilita a Detecção Inteligente de Pessoas/Veículos pelo gravador; nos iNVUs, "rouba" um módulo de IA dedicado de outras funções. Capacidade do IAX: até 5 alvos/segundo.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INTELBRAS IAX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presumida e limitações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Camadas: Câmera (detecção primária) → NVR/Servidor (módulo IA multimodal) → Interface Web/App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multimodal roda como pacote de algoritmo instalável, consumindo módulo de IA dedicado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menção a nuvem, API externa ou índice vetorial explícito (FAISS/Milvus) no manual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Decodificação de vídeo cai drasticamente com IA habilitada (ex.: 64ch@720p30 → 64ch@D1)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BEEE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(assumidas pelo próprio manual)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2402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5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compreensão temporal real — opera sobre snapshots individuais, não clipes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5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Proibido julgamento subjetivo/intenção ("suspeito", "perigoso") na prática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5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100% da IA de origem (InSearch) — se restrita, buscas fora do escopo falham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5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rígidos de imagem (lux, resolução, ângulo, oclusão)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5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Necessita validação humana contínua; não é "plug-and-play" confiável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INTELBRAS IAX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Funcionalidades, tecnologia e valor (síntese)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2743200"/>
                <a:gridCol w="822960"/>
                <a:gridCol w="73152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Tecnologia provável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IA por Texto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Localizar pessoa/veículo por descrição livre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 (embedding texto-imagem) edge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Alarme IA por Texto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Alarme em tempo real por correspondência textual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Mesmo VLM em modo streaming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Gerar eventos/snapshots como fonte pro IAX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Classificação de atributos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Reconhecimento Facial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Identificar indivíduos (até 200k faces)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embedding + matching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de placas veiculares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+ detecção de objeto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Detecção de EPI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de segurança do trabalho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Detecção multi-classe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Forense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por atributos (cor, tipo veículo)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Classificação de atributos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completa (14 funcionalidades) disponível no relatório técnico complementar.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868680" y="3429000"/>
            <a:ext cx="128016" cy="128016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3246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Profunda do Projeto de TCC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88720" y="39776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integral do código-fonte, documentação, modelos e pipeline — arquitetura, decisões técnicas e inconsistências.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PROJETO DE TCC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pipeline (2 estágios)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1 — Indexação (offline)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Vídeo(s) → VideoReader (thread por câmera, OpenCV)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Filter descarta frames estáticos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BatchCollector agrupa frames cross-câmera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 gera embeddings (GPU, serializado)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SQLite opcional evita reencode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similaridade descarta redundância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FaissStore grava índice + metadados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0B2D5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2 — Busca (sob demanda)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19456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 PT → SigLIP encode_text (nativo multilingue)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FAST: FAISS top-k direto, sem VLM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DETAILED: FAISS top-100 → MMR rerank (relevância x diversidade)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dos frames top-k sob demanda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Qwen2.5-VL gera legenda condicionada à query (1 chamada em lote)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= similaridade cosseno (query, legenda)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PROJETO DE TCC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IA utilizados (nomes exatos)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  <a:gridCol w="118872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Licença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imagem/texto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google/siglip-base-patch16-256-multilingual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768-dim, nativo PT, substituiu CLIP/M-CLIP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Legendagem / VLM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Qwen/Qwen2.5-VL-3B-Instruct (4-bit NF4)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anti-viés de confirmação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Confiança textual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sentence-transformers/paraphrase-multilingual-mpnet-base-v2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Similaridade cosseno não calibrada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vetorial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IndexFlatIP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Força bruta em memória — não escala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BEEE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avaliados e descartados (evidência experimental): OpenCLIP, CLIP+tradução PT→EN, M-CLIP, Qwen2-VL-2B (alucinava OCR de placas), Moondream2 (dependência frágil de libvips), Florence-2-large (incompatível com transformers 5.x).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PROJETO DE TCC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vs. planejado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7E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frames + motion detection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cross-câmera na GPU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similaridade de embeddings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vetorial FAISS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por diversidade (MMR)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Legendagem condicionada à query (VLM)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Indexação multi-câmera concorrente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de performance (CPU/RAM/VRAM/GPU)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BEEE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/ não cumprido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Microsserviço HTTP (API REST) — removido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VMS Qt — não iniciada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formal (Precision@K/Recall@K)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do score de confiança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Indexação ao vivo via RTSP/RTMP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pessoas + re-embedding (YOLO)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bibliográfica formal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Dissertação (documento acadêmico)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PROJETO DE TCC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inconsistências encontradas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6916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10 scripts de scripts/ têm imports quebrados após refatoração — resultados do README não são mais reproduzíveis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60604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060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246888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dados residual aponta para caminho fora do repositório — nenhum vídeo de teste é reproduzível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38328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8328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324612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"confiança" é cosseno bruto não calibrado — script de calibração existe mas não é usado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16052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605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402336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4 (API) e 5 (integração Qt) da proposta seguem não cumpridos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93776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5AA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9377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480060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EmbeddingCache (SQLite) implementado mas não exposto por nenhuma flag da CLI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71500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7150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55778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dataset de avaliação formal (maior risco para a defesa)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868680" y="3429000"/>
            <a:ext cx="128016" cy="128016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3246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Benchmarking: TCC vs. Intelbras IAX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88720" y="39776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em comum, vantagens de cada lado, potencial e notas de 0 a 10.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BENCHMARKING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em comum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conteúdo visual por linguagem natural (texto → imagem/frame)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Embeddings/similaridade semântica como mecanismo central de retrieval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nativo a português (SigLIP multilingue no TCC; sem tradução no IAX)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confiança/similaridade exibido ao usuário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local/on-premise — nenhum depende de API cloud para o core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vídeo de segurança/vigilância como caso de uso primário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BENCHMARKING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exclusivas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0F4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Exclusivas do Intelbras IAX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em tempo real (streaming contínuo)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 exclusão nativo na UI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completo: LPR, facial, EPI, comportamento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certificado, com suporte e garantia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móvel (iSIC Lite)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gráfica testada em campo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7E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Exclusivas do Projeto de TCC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por diversidade (MMR)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Legendagem gerativa explicando cada resultado (VLM)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assíncrono com cache de embeddings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Indexação multi-câmera concorrente configurável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de hardware integrado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transparente de 6 modelos, código aberto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BENCHMARKING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cada solução se destaca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7E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supera o IAX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Explicabilidade: legenda textual justifica cada resultado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 documentada de viés de confirmação/alucinação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total de modelo (vs. caixa-preta comercial)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zero de licenciamento (Apache/MIT)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em GPU de consumo, sem hardware proprietário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0F4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IAX ainda vence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 de produto e UX testada em campo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em tempo real (streaming) — TCC é batch/sob demanda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 (LPR, facial, EPI, comportamento)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 de produção, suporte e SLA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gráfica e app mobile prontos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BENCHMARKING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além dos dois produtos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105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que poderiam ser incorporados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IAX para o TCC: alarme contínuo por prompt, prompt de exclusão, interface web, modo streaming.  •  Do TCC para o IAX: legendagem explicativa gerativa, benchmarking público de modelos, opção open-weight auditável.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B2D5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9593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inovadores ainda inexistentes em ambos (fronteira 2026)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conversacional multi-turno com memória sobre o conteúdo do vídeo (RAG real, não apenas retrieval)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executivos gerados automaticamente por LLM a partir de múltiplos eventos agregados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Explicabilidade visual (heatmap de atenção sobre a região que motivou o resultado)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federada multi-site num único prompt + agentes de IA que sugerem/executam resposta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BENCHMARKING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do projeto de TCC (estado atual, 0-10)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7665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00200"/>
            <a:ext cx="4160520" cy="452628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geral: 5,75 / 10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0" y="2194560"/>
            <a:ext cx="3657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no núcleo de IA (inteligência empregada 8, potencial científico 8), mas incompleto como produto: UX (2) e facilidade de uso (3) são os maiores gaps — não existe interface gráfica, apenas CLI.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868680" y="3429000"/>
            <a:ext cx="128016" cy="128016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3246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Mercado 2026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88720" y="39776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 diretos, tendências emergentes e funcionalidades modernas para tornar o projeto competitivo.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· 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de concorrentes (2026)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937760"/>
                <a:gridCol w="301752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 de destaque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Hikvision (AcuSeek)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por texto livre em NVR, on-device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 proprietário, edge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language search + tracking multi-site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Cloud/SaaS + edge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 / BriefCam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Search (GA fim de 2026), VLM treinado em domínio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 especializado em segurança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Verkada / Eagle Eye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 unificada, agente Eeva por prompt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(Verkada) / Cloud (Eagle Eye)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/ Azure / Google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 de video intelligence de propósito geral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Cloud, modelos genéricos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Conntour (startup, YC/GC 2026)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por texto em GPU de consumo (RTX 4090)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 leve, edge de baixo custo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video analytics com IA projetado para US$ 17 bi até 2031 (+22% a.a.); videovigilância geral deve superar US$ 80 bi até 2030.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· 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47088"/>
            <a:ext cx="384048" cy="384048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288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6771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competitivo obrigatório — todos os grandes players lançaram em 2025-2026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847088"/>
            <a:ext cx="384048" cy="384048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18288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26771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que investigam, correlacionam e sugerem resposta, não só alertam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401568"/>
            <a:ext cx="384048" cy="384048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3832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vs. Cloud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82219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Fabricantes de hardware priorizam privacidade (edge); cloud players priorizam profundidade semântica e escala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2004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401568"/>
            <a:ext cx="384048" cy="384048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33832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VLMs especializados de domínio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382219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treinados/ajustados para segurança superam modelos genéricos adaptados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956048"/>
            <a:ext cx="384048" cy="384048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25880" y="49377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real para vídeo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537667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incipiente mesmo nos líderes — nenhum concorrente gera resposta narrativa agregada hoje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7548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956048"/>
            <a:ext cx="384048" cy="384048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49440" y="49377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/ Dashboards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46520" y="537667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Exigência crescente de que a IA "mostre seu raciocínio"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· 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modernas para tornar o TCC competitivo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contínuo por prompt (modo streaming), com prompt de exclusão — paridade com IAX/AcuSeek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conversacional multi-turno com memória (RAG real: LLM sintetiza resposta a partir de múltiplos frames)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HTTP persistente com modelos residentes (recriar o que foi removido, com lifespan management)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executivo com timeline, mapa de calor e KPIs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avaliação com Precision@K/Recall@K — essencial para credibilidade científica e comercial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Explicabilidade visual (destacar a região da imagem que motivou o resultado)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federada multi-câmera/multi-site num único prompt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868680" y="3429000"/>
            <a:ext cx="128016" cy="128016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3246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Plataforma: Videre AI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88720" y="39776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 corporativa e arquitetura completa para transformar o protótipo em ferramenta demonstrável.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 · PLATAFORMA VIDERE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 (inspirada na WEG)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0B2D5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200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profundo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538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#0B2D5C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59736" y="16916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E5AA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51176" y="3200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corporativo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51176" y="3538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#1E5AA8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70832" y="16916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00A65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3200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tecnológico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62272" y="3538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#00A651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81928" y="16916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A1F2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3200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73368" y="3538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#1A1F2B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93024" y="16916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E8A33D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3200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Âmbar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84464" y="3538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#E8A33D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104120" y="16916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C0392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95560" y="3200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195560" y="3538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#C0392B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11064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0416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Diretrizes de design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43484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 sans-serif limpa (Inter), hierarquia clara, muito espaço em branco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Cantos levemente arredondados (8-12px), sombras suaves, cards com bordas sutis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fixa esquerda colapsável + header com busca global e notificações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produto demo: "Videre AI" (do latim videre, "ver")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6 · PLATAFORMA VIDERE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proposta (visão de produto)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863840" cy="777240"/>
          </a:xfrm>
          <a:prstGeom prst="roundRect">
            <a:avLst>
              <a:gd name="adj" fmla="val 8235"/>
            </a:avLst>
          </a:prstGeom>
          <a:solidFill>
            <a:srgbClr val="1E5AA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73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(SPA)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208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Tailwind + shadcn/ui  ·  REST/JSON + WebSocket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7863840" cy="777240"/>
          </a:xfrm>
          <a:prstGeom prst="roundRect">
            <a:avLst>
              <a:gd name="adj" fmla="val 8235"/>
            </a:avLst>
          </a:prstGeom>
          <a:solidFill>
            <a:srgbClr val="0B2D5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/ 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999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Auth JWT/RBAC  ·  ModelManager residente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7863840" cy="777240"/>
          </a:xfrm>
          <a:prstGeom prst="roundRect">
            <a:avLst>
              <a:gd name="adj" fmla="val 8235"/>
            </a:avLst>
          </a:prstGeom>
          <a:solidFill>
            <a:srgbClr val="2E4A72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630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+ Vetor DB + Banco relacional + Object Storage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Redis/Celery  ·  Qdrant  ·  PostgreSQL  ·  S3/MinIO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535424"/>
            <a:ext cx="7863840" cy="777240"/>
          </a:xfrm>
          <a:prstGeom prst="roundRect">
            <a:avLst>
              <a:gd name="adj" fmla="val 8235"/>
            </a:avLst>
          </a:prstGeom>
          <a:solidFill>
            <a:srgbClr val="3E6094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60857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de inferência (GPU)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956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  ·  Qwen2.5-VL  ·  sentence-transformers  ·  MMR  ·  Motion filter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513832"/>
            <a:ext cx="7863840" cy="777240"/>
          </a:xfrm>
          <a:prstGeom prst="roundRect">
            <a:avLst>
              <a:gd name="adj" fmla="val 8235"/>
            </a:avLst>
          </a:prstGeom>
          <a:solidFill>
            <a:srgbClr val="1A1F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55869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 / NVRs / Arquivos de vídeo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9344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RTSP/RTMP ao vivo ou upload de arquivo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41080" y="1600200"/>
            <a:ext cx="3017520" cy="46177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6968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 transversal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69680" y="2194560"/>
            <a:ext cx="2697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estruturados (ELK/Loki)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(Prometheus/Grafana)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(OpenTelemetry)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de GPU (reaproveitado do TCC)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0" y="420624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horizontal: workers de GPU em containers (Docker/K8s); fila absorve picos de indexação sem degradar a busca interativa.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6 · PLATAFORMA VIDERE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Justificativas técnicas principais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com lifespan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o maior débito técnico atual: API removida, modelos recarregados a cada chamada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 em vez de FAISS puro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IndexFlatIP é força bruta em memória — não escala para produção multi-câmera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relacionais (usuários, câmeras, eventos, auditoria) hoje inexistentes no TCC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+ Celery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Desacopla indexação pesada de busca interativa; escala workers de GPU horizontalmente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Storage (S3/MinIO)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o problema de vídeos/frames fora do repositório (reprodutibilidade)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 (admin/operador/visualizador)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 básico de produto corporativo B2B, ausente no protótipo atual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868680" y="3429000"/>
            <a:ext cx="128016" cy="128016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3246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do Frontend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88720" y="39776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executivo real construído no Lovable (React + TypeScript + Tailwind + shadcn/ui) — 16 páginas navegáveis.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7 · FRONTEND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executivo — "Videre AI" no Lovable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6675120" cy="365760"/>
          </a:xfrm>
          <a:prstGeom prst="roundRect">
            <a:avLst>
              <a:gd name="adj" fmla="val 17500"/>
            </a:avLst>
          </a:prstGeom>
          <a:solidFill>
            <a:srgbClr val="E9EDF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73936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77393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1773936"/>
            <a:ext cx="118872" cy="118872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11680"/>
            <a:ext cx="1737360" cy="416052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VIDERE 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1463040" cy="292608"/>
          </a:xfrm>
          <a:prstGeom prst="rect">
            <a:avLst/>
          </a:prstGeom>
          <a:solidFill>
            <a:srgbClr val="1E5AA8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28986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5800" y="3282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NL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" y="36667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Semântica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5800" y="40507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85800" y="4434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4818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5800" y="52029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14600" y="219456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219456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219456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3337560"/>
            <a:ext cx="4434840" cy="2743200"/>
          </a:xfrm>
          <a:prstGeom prst="roundRect">
            <a:avLst>
              <a:gd name="adj" fmla="val 1667"/>
            </a:avLst>
          </a:prstGeom>
          <a:solidFill>
            <a:srgbClr val="F4F6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23620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ilustrativo do layout — não é screenshot da aplicação real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52360" y="1645920"/>
            <a:ext cx="4206240" cy="4526280"/>
          </a:xfrm>
          <a:prstGeom prst="roundRect">
            <a:avLst>
              <a:gd name="adj" fmla="val 1739"/>
            </a:avLst>
          </a:prstGeom>
          <a:solidFill>
            <a:srgbClr val="0B2D5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2668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"Videre Vision Suite"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26680" y="228600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Tailwind + shadcn/ui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rotas navegáveis, sidebar unificada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 corporativa (azul/verde/grafite)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mockados coerentes entre páginas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Auditado e validado — todas as 16 páginas confirmadas sem placeholder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26680" y="5029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 protótipo: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id-preview--4df3ba19...lovable.app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7 · FRONTEND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páginas especificadas e construídas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72491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92224"/>
            <a:ext cx="310896" cy="310896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627632"/>
            <a:ext cx="2039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28416" y="1627632"/>
            <a:ext cx="272491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93008" y="1792224"/>
            <a:ext cx="310896" cy="310896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95344" y="1627632"/>
            <a:ext cx="2039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08192" y="1627632"/>
            <a:ext cx="272491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72784" y="1792224"/>
            <a:ext cx="310896" cy="310896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14" name="Text 12"/>
          <p:cNvSpPr/>
          <p:nvPr/>
        </p:nvSpPr>
        <p:spPr>
          <a:xfrm>
            <a:off x="6272784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1627632"/>
            <a:ext cx="2039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em Tempo Real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87968" y="1627632"/>
            <a:ext cx="272491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52560" y="1792224"/>
            <a:ext cx="310896" cy="310896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54896" y="1627632"/>
            <a:ext cx="2039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Linguagem Natural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715768"/>
            <a:ext cx="272491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2880360"/>
            <a:ext cx="310896" cy="310896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2715768"/>
            <a:ext cx="2039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Semântica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28416" y="2715768"/>
            <a:ext cx="272491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93008" y="2880360"/>
            <a:ext cx="310896" cy="310896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26" name="Text 24"/>
          <p:cNvSpPr/>
          <p:nvPr/>
        </p:nvSpPr>
        <p:spPr>
          <a:xfrm>
            <a:off x="3493008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95344" y="2715768"/>
            <a:ext cx="2039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por Eventos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08192" y="2715768"/>
            <a:ext cx="272491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72784" y="2880360"/>
            <a:ext cx="310896" cy="310896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30" name="Text 28"/>
          <p:cNvSpPr/>
          <p:nvPr/>
        </p:nvSpPr>
        <p:spPr>
          <a:xfrm>
            <a:off x="6272784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2715768"/>
            <a:ext cx="2039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dos Vídeos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887968" y="2715768"/>
            <a:ext cx="272491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52560" y="2880360"/>
            <a:ext cx="310896" cy="310896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34" name="Text 32"/>
          <p:cNvSpPr/>
          <p:nvPr/>
        </p:nvSpPr>
        <p:spPr>
          <a:xfrm>
            <a:off x="905256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454896" y="2715768"/>
            <a:ext cx="2039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das Câmeras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3803904"/>
            <a:ext cx="272491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3232" y="3968496"/>
            <a:ext cx="310896" cy="310896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15568" y="3803904"/>
            <a:ext cx="2039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 IA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328416" y="3803904"/>
            <a:ext cx="272491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493008" y="3968496"/>
            <a:ext cx="310896" cy="310896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42" name="Text 40"/>
          <p:cNvSpPr/>
          <p:nvPr/>
        </p:nvSpPr>
        <p:spPr>
          <a:xfrm>
            <a:off x="3493008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895344" y="3803904"/>
            <a:ext cx="2039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108192" y="3803904"/>
            <a:ext cx="272491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72784" y="3968496"/>
            <a:ext cx="310896" cy="310896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46" name="Text 44"/>
          <p:cNvSpPr/>
          <p:nvPr/>
        </p:nvSpPr>
        <p:spPr>
          <a:xfrm>
            <a:off x="6272784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75120" y="3803904"/>
            <a:ext cx="2039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887968" y="3803904"/>
            <a:ext cx="272491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052560" y="3968496"/>
            <a:ext cx="310896" cy="310896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50" name="Text 48"/>
          <p:cNvSpPr/>
          <p:nvPr/>
        </p:nvSpPr>
        <p:spPr>
          <a:xfrm>
            <a:off x="905256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454896" y="3803904"/>
            <a:ext cx="2039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48640" y="4892040"/>
            <a:ext cx="272491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13232" y="5056632"/>
            <a:ext cx="310896" cy="310896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54" name="Text 52"/>
          <p:cNvSpPr/>
          <p:nvPr/>
        </p:nvSpPr>
        <p:spPr>
          <a:xfrm>
            <a:off x="713232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115568" y="4892040"/>
            <a:ext cx="2039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328416" y="4892040"/>
            <a:ext cx="272491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493008" y="5056632"/>
            <a:ext cx="310896" cy="310896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58" name="Text 56"/>
          <p:cNvSpPr/>
          <p:nvPr/>
        </p:nvSpPr>
        <p:spPr>
          <a:xfrm>
            <a:off x="3493008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3895344" y="4892040"/>
            <a:ext cx="2039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Modelos de IA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6108192" y="4892040"/>
            <a:ext cx="272491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272784" y="5056632"/>
            <a:ext cx="310896" cy="310896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62" name="Text 60"/>
          <p:cNvSpPr/>
          <p:nvPr/>
        </p:nvSpPr>
        <p:spPr>
          <a:xfrm>
            <a:off x="6272784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675120" y="4892040"/>
            <a:ext cx="2039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8887968" y="4892040"/>
            <a:ext cx="272491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9052560" y="5056632"/>
            <a:ext cx="310896" cy="310896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66" name="Text 64"/>
          <p:cNvSpPr/>
          <p:nvPr/>
        </p:nvSpPr>
        <p:spPr>
          <a:xfrm>
            <a:off x="9052560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454896" y="4892040"/>
            <a:ext cx="2039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868680" y="3429000"/>
            <a:ext cx="128016" cy="128016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3246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em 5 Fases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88720" y="39776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MVP à versão industrial — funcionalidades, prioridade, complexidade e riscos por fase.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8 ·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fases de evolução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71016" y="1828800"/>
            <a:ext cx="640080" cy="640080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5" name="Text 3"/>
          <p:cNvSpPr/>
          <p:nvPr/>
        </p:nvSpPr>
        <p:spPr>
          <a:xfrm>
            <a:off x="127101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084832" cy="3429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834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semanas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657600"/>
            <a:ext cx="181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débitos técnicos, recriar API mínima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33472" y="19659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65576" y="1828800"/>
            <a:ext cx="640080" cy="640080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12" name="Text 10"/>
          <p:cNvSpPr/>
          <p:nvPr/>
        </p:nvSpPr>
        <p:spPr>
          <a:xfrm>
            <a:off x="346557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2697480"/>
            <a:ext cx="2084832" cy="3429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80360" y="2834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executivo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80360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semanas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80360" y="3657600"/>
            <a:ext cx="181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web, auth simples, WebSocket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8032" y="19659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0136" y="1828800"/>
            <a:ext cx="640080" cy="640080"/>
          </a:xfrm>
          <a:prstGeom prst="ellipse">
            <a:avLst/>
          </a:prstGeom>
          <a:solidFill>
            <a:srgbClr val="0B2D5C"/>
          </a:solidFill>
          <a:ln/>
        </p:spPr>
      </p:sp>
      <p:sp>
        <p:nvSpPr>
          <p:cNvPr id="19" name="Text 17"/>
          <p:cNvSpPr/>
          <p:nvPr/>
        </p:nvSpPr>
        <p:spPr>
          <a:xfrm>
            <a:off x="566013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697480"/>
            <a:ext cx="2084832" cy="3429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74920" y="2834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 semanas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74920" y="3657600"/>
            <a:ext cx="181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páginas completas, identidade visual total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22592" y="19659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854696" y="18288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785469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32320" y="2697480"/>
            <a:ext cx="2084832" cy="3429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269480" y="2834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69480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meses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269480" y="3657600"/>
            <a:ext cx="181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avaliação, alarme real-time, RBAC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17152" y="19659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049256" y="182880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1004925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326880" y="2697480"/>
            <a:ext cx="2084832" cy="3429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464040" y="2834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464040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meses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464040" y="3657600"/>
            <a:ext cx="181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HA, observabilidade completa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principais: obtenção de dados reais anotados (LGPD), custo de infraestrutura GPU em escala, necessidade de equipe além do autor único a partir da Fase 4.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868680" y="3429000"/>
            <a:ext cx="128016" cy="128016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3246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Implementação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88720" y="39776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por horizonte de tempo, backlog priorizado, riscos e oportunidades de pesquisa, publicação e patente.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9 · PLANO DE IMPLEMENTAÇÃO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por horizonte de tempo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0A65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Imediatas (dias)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063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imports quebrados nos 10 scripts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Commitar a refatoração pendente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Pinar versões no requirements.txt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bloco de código malformado no README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87452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874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prazo (semanas)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3063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 EmbeddingCache via flag da CLI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calibração de confiança ao pipeline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Recriar API HTTP (FastAPI lifespan)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dataset mínimo de avaliação (Precision@K/Recall@K)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87452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1E5AA8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874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Longo prazo (meses)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2560320"/>
            <a:ext cx="3063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FAISS → Qdrant/HNSW para escalar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contínuo por prompt (streaming)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 RAG real (memória multi-turno)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completo + revisão bibliográfica + dissertação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9 · PLANO DE IMPLEMENTAÇÃO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priorizado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scripts quebrados + commit da refatoração (bloqueia reprodutibilidade)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64240" cy="420624"/>
          </a:xfrm>
          <a:prstGeom prst="roundRect">
            <a:avLst>
              <a:gd name="adj" fmla="val 17391"/>
            </a:avLst>
          </a:prstGeom>
          <a:solidFill>
            <a:srgbClr val="F0F4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1488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214884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avaliação formal + métricas de IR (crítico para a defesa acadêmica)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10642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6060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60604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HTTP persistente (FastAPI lifespan)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11064240" cy="420624"/>
          </a:xfrm>
          <a:prstGeom prst="roundRect">
            <a:avLst>
              <a:gd name="adj" fmla="val 17391"/>
            </a:avLst>
          </a:prstGeom>
          <a:solidFill>
            <a:srgbClr val="F0F4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0632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06324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mínimo (Dashboard + Busca por Linguagem Natural)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110642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5204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52044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de confiança integrada ao pipeline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064240" cy="420624"/>
          </a:xfrm>
          <a:prstGeom prst="roundRect">
            <a:avLst>
              <a:gd name="adj" fmla="val 17391"/>
            </a:avLst>
          </a:prstGeom>
          <a:solidFill>
            <a:srgbClr val="F0F4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9776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397764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DB escalável (Qdrant)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110642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44348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443484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em tempo real (paridade com IAX)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11064240" cy="420624"/>
          </a:xfrm>
          <a:prstGeom prst="roundRect">
            <a:avLst>
              <a:gd name="adj" fmla="val 17391"/>
            </a:avLst>
          </a:prstGeom>
          <a:solidFill>
            <a:srgbClr val="F0F4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48920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489204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 RAG real (síntese multi-frame)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349240"/>
            <a:ext cx="110642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53492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534924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completo (16 páginas)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806440"/>
            <a:ext cx="11064240" cy="420624"/>
          </a:xfrm>
          <a:prstGeom prst="roundRect">
            <a:avLst>
              <a:gd name="adj" fmla="val 17391"/>
            </a:avLst>
          </a:prstGeom>
          <a:solidFill>
            <a:srgbClr val="F0F4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" y="58064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34440" y="580644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VMS real / piloto em ambiente controlado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9 · PLANO DE IMPLEMENTAÇÃO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técnicos e oportunidades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BEEE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técnicos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5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versão específica de transformers (já causou rejeição de modelos)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5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GPU em escala (Qwen2.5-VL é caro por busca detalhada)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5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LGPD: dados de vídeo com pessoas identificáveis exigem anonimização e base legal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7E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de pesquisa e publicação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de confiança (isotônica/Platt) para VLMs de retrieval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 de hubness em embeddings multilingues (QB-Norm)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 sobre prompt anti-viés de confirmação (achado original replicável)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A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comparativo de 6 VLMs open-source (dado já coletado)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 competitivos e conclusão executiva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 competitivos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Explicabilidade nativa (legenda gerativa por resultado)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zero de licenciamento (modelos open-source)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 de hardware — GPU de consumo, sem NVR proprietário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experimental documentado (transparência vs. caixa-preta comercial)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0B2D5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executiva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de TCC já entrega, no núcleo de IA, um nível técnico comparável — e em explicabilidade superior — ao produto comercial mais recente da Intelbras. As lacunas estão fora do modelo: interface, avaliação formal e produtização. Corrigindo a dívida técnica imediata e seguindo o roadmap de 5 fases, o projeto tem potencial real de se tornar tanto uma dissertação forte quanto um produto demonstrável a mercado.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principais consultadas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Uso de IA — Intelbras IAX (documento oficial, backend.intelbras.com)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 técnico iNVD 9064 IAX FT (intelbras.com)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 e documentação do projeto de TCC (repositório local)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mercado: TechCrunch, Forbes, SourceSecurity, CCTV Buyers Guide, Coram.ai, Mixpeek (2026)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executivo: Lovable ("Videre Vision Suite")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Handerson · Julho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TCC vs Intelbras IAX — Benchmarking e Proposta de Plataforma Videre AI</dc:title>
  <dc:subject>PptxGenJS Presentation</dc:subject>
  <dc:creator>Lucas Handerson</dc:creator>
  <cp:lastModifiedBy>Lucas Handerson</cp:lastModifiedBy>
  <cp:revision>1</cp:revision>
  <dcterms:created xsi:type="dcterms:W3CDTF">2026-07-04T14:09:06Z</dcterms:created>
  <dcterms:modified xsi:type="dcterms:W3CDTF">2026-07-04T14:09:06Z</dcterms:modified>
</cp:coreProperties>
</file>